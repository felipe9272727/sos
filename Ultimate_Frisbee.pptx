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31375" y="4297680"/>
            <a:ext cx="4114800" cy="4114800"/>
          </a:xfrm>
          <a:prstGeom prst="ellipse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62895" y="5029200"/>
            <a:ext cx="2651760" cy="2651760"/>
          </a:xfrm>
          <a:prstGeom prst="ellipse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0" y="548640"/>
            <a:ext cx="2103120" cy="2103120"/>
          </a:xfrm>
          <a:prstGeom prst="ellipse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349240" y="868680"/>
            <a:ext cx="1463040" cy="1463040"/>
          </a:xfrm>
          <a:prstGeom prst="ellipse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143000"/>
            <a:ext cx="2103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0">
                <a:solidFill>
                  <a:srgbClr val="162A3A"/>
                </a:solidFill>
                <a:latin typeface="Calibri"/>
              </a:rPr>
              <a:t>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ULTIMATE FRISBEE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FC43D"/>
                </a:solidFill>
                <a:latin typeface="Calibri"/>
              </a:rPr>
              <a:t>Origem, regras e curiosidades do esporte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Nicolas  •  Felipe  •  André  •  Lucas  •  Ruan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2C4A"/>
                </a:solidFill>
                <a:latin typeface="Calibri"/>
              </a:rPr>
              <a:t>O que é e como surgiu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926080" cy="508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2179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B6CA8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62A3A"/>
                </a:solidFill>
                <a:latin typeface="Calibri"/>
              </a:rPr>
              <a:t>O Ultimate Frisbee é um esporte coletivo jogado com um disco (frisbee). O objetivo é levar o disco até a área de pontuação do adversário por meio de passes. Começou como brincadeira universitária e virou um esporte competitivo praticado no mundo todo.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200400"/>
            <a:ext cx="1078992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200400"/>
            <a:ext cx="164592" cy="292608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375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C4A"/>
                </a:solidFill>
                <a:latin typeface="Calibri"/>
              </a:rPr>
              <a:t>📜 De onde vem o nome "Frisbee"?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77639"/>
            <a:ext cx="10241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62A3A"/>
                </a:solidFill>
                <a:latin typeface="Calibri"/>
              </a:rPr>
              <a:t>O frisbee se inspirou em formas antigas de arremessar discos, mas ficou famoso nos EUA nos anos 1940. O nome veio da empresa de tortas "Frisbie Pie Company": os estudantes jogavam as formas de torta vazias gritando "Frisbie!". Depois, a empresa Wham-O criou o disco de plástico moderno e mudou a escrita para "Frisbee".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2C4A"/>
                </a:solidFill>
                <a:latin typeface="Calibri"/>
              </a:rPr>
              <a:t>Regras básicas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926080" cy="508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2179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B6CA8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1">
                <a:solidFill>
                  <a:srgbClr val="FF8C1A"/>
                </a:solidFill>
              </a:rPr>
              <a:t>●  </a:t>
            </a:r>
            <a:r>
              <a:rPr sz="2100">
                <a:solidFill>
                  <a:srgbClr val="162A3A"/>
                </a:solidFill>
                <a:latin typeface="Calibri"/>
              </a:rPr>
              <a:t>O objetivo é chegar à área de pontuação do adversário recebendo o disco.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FF8C1A"/>
                </a:solidFill>
              </a:rPr>
              <a:t>●  </a:t>
            </a:r>
            <a:r>
              <a:rPr sz="2100">
                <a:solidFill>
                  <a:srgbClr val="162A3A"/>
                </a:solidFill>
                <a:latin typeface="Calibri"/>
              </a:rPr>
              <a:t>Quem está com o frisbee NÃO pode correr — só pode passar.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FF8C1A"/>
                </a:solidFill>
              </a:rPr>
              <a:t>●  </a:t>
            </a:r>
            <a:r>
              <a:rPr sz="2100">
                <a:solidFill>
                  <a:srgbClr val="162A3A"/>
                </a:solidFill>
                <a:latin typeface="Calibri"/>
              </a:rPr>
              <a:t>Cada equipe joga normalmente com 7 jogadores em campo.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FF8C1A"/>
                </a:solidFill>
              </a:rPr>
              <a:t>●  </a:t>
            </a:r>
            <a:r>
              <a:rPr sz="2100">
                <a:solidFill>
                  <a:srgbClr val="162A3A"/>
                </a:solidFill>
                <a:latin typeface="Calibri"/>
              </a:rPr>
              <a:t>O disco passa para o outro time se cair no chão ou for interceptado.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FF8C1A"/>
                </a:solidFill>
              </a:rPr>
              <a:t>●  </a:t>
            </a:r>
            <a:r>
              <a:rPr sz="2100">
                <a:solidFill>
                  <a:srgbClr val="162A3A"/>
                </a:solidFill>
                <a:latin typeface="Calibri"/>
              </a:rPr>
              <a:t>Pontua-se quando um jogador recebe o disco dentro da área de gol adversária.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FF8C1A"/>
                </a:solidFill>
              </a:rPr>
              <a:t>●  </a:t>
            </a:r>
            <a:r>
              <a:rPr sz="2100">
                <a:solidFill>
                  <a:srgbClr val="162A3A"/>
                </a:solidFill>
                <a:latin typeface="Calibri"/>
              </a:rPr>
              <a:t>Não é permitido contato físico forte entre os jogadores.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2C4A"/>
                </a:solidFill>
                <a:latin typeface="Calibri"/>
              </a:rPr>
              <a:t>Como o jogo acontece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926080" cy="508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2179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B6CA8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F8C1A"/>
                </a:solidFill>
              </a:rPr>
              <a:t>●  </a:t>
            </a:r>
            <a:r>
              <a:rPr sz="1800">
                <a:solidFill>
                  <a:srgbClr val="162A3A"/>
                </a:solidFill>
                <a:latin typeface="Calibri"/>
              </a:rPr>
              <a:t>O jogo começa com um lançamento chamado "pull", parecido com a saída do futebol.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F8C1A"/>
                </a:solidFill>
              </a:rPr>
              <a:t>●  </a:t>
            </a:r>
            <a:r>
              <a:rPr sz="1800">
                <a:solidFill>
                  <a:srgbClr val="162A3A"/>
                </a:solidFill>
                <a:latin typeface="Calibri"/>
              </a:rPr>
              <a:t>Quem está com o disco tem cerca de 10 segundos para passar.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F8C1A"/>
                </a:solidFill>
              </a:rPr>
              <a:t>●  </a:t>
            </a:r>
            <a:r>
              <a:rPr sz="1800">
                <a:solidFill>
                  <a:srgbClr val="162A3A"/>
                </a:solidFill>
                <a:latin typeface="Calibri"/>
              </a:rPr>
              <a:t>Se o disco sair do campo, a posse vai para o outro time.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F8C1A"/>
                </a:solidFill>
              </a:rPr>
              <a:t>●  </a:t>
            </a:r>
            <a:r>
              <a:rPr sz="1800">
                <a:solidFill>
                  <a:srgbClr val="162A3A"/>
                </a:solidFill>
                <a:latin typeface="Calibri"/>
              </a:rPr>
              <a:t>Após cada ponto, os times trocam de lado no campo.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F8C1A"/>
                </a:solidFill>
              </a:rPr>
              <a:t>●  </a:t>
            </a:r>
            <a:r>
              <a:rPr sz="1800">
                <a:solidFill>
                  <a:srgbClr val="162A3A"/>
                </a:solidFill>
                <a:latin typeface="Calibri"/>
              </a:rPr>
              <a:t>As substituições normalmente acontecem após um ponto ser marcado.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F8C1A"/>
                </a:solidFill>
              </a:rPr>
              <a:t>●  </a:t>
            </a:r>
            <a:r>
              <a:rPr sz="1800">
                <a:solidFill>
                  <a:srgbClr val="162A3A"/>
                </a:solidFill>
                <a:latin typeface="Calibri"/>
              </a:rPr>
              <a:t>Se dois jogadores pegam o disco ao mesmo tempo, a posse fica com o ataque.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F8C1A"/>
                </a:solidFill>
              </a:rPr>
              <a:t>●  </a:t>
            </a:r>
            <a:r>
              <a:rPr sz="1800">
                <a:solidFill>
                  <a:srgbClr val="162A3A"/>
                </a:solidFill>
                <a:latin typeface="Calibri"/>
              </a:rPr>
              <a:t>Pode ser jogado em grama, areia ou quadras adaptadas.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FF8C1A"/>
                </a:solidFill>
              </a:rPr>
              <a:t>●  </a:t>
            </a:r>
            <a:r>
              <a:rPr sz="1800">
                <a:solidFill>
                  <a:srgbClr val="162A3A"/>
                </a:solidFill>
                <a:latin typeface="Calibri"/>
              </a:rPr>
              <a:t>Em competições oficiais, vence quem chega primeiro à pontuação definida (geralmente 15 pontos).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-1097280"/>
            <a:ext cx="3657600" cy="36576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297680"/>
            <a:ext cx="3657600" cy="3657600"/>
          </a:xfrm>
          <a:prstGeom prst="ellipse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C43D"/>
                </a:solidFill>
                <a:latin typeface="Calibri"/>
              </a:rPr>
              <a:t>🤝 O Espírito do Jogo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4183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O Ultimate Frisbee é conhecido por não ter árbitros na maioria das partidas: os próprios jogadores resolvem as faltas. Por isso, o esporte valoriza o "Espírito do Jogo", que incentiva respeito, honestidade e fair play entre todos.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2C4A"/>
                </a:solidFill>
                <a:latin typeface="Calibri"/>
              </a:rPr>
              <a:t>Curiosidades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926080" cy="508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2179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B6CA8"/>
                </a:solidFill>
                <a:latin typeface="Calibr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162A3A"/>
                </a:solidFill>
                <a:latin typeface="Calibri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83080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62A3A"/>
                </a:solidFill>
                <a:latin typeface="Calibri"/>
              </a:rPr>
              <a:t>O frisbee pode ultrapassar 100 km/h dependendo do lançamento.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697480"/>
            <a:ext cx="10515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162A3A"/>
                </a:solidFill>
                <a:latin typeface="Calibri"/>
              </a:rPr>
              <a:t>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97480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62A3A"/>
                </a:solidFill>
                <a:latin typeface="Calibri"/>
              </a:rPr>
              <a:t>Existe campeonato mundial de frisbee.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611880"/>
            <a:ext cx="10515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11880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162A3A"/>
                </a:solidFill>
                <a:latin typeface="Calibri"/>
              </a:rPr>
              <a:t>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611880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62A3A"/>
                </a:solidFill>
                <a:latin typeface="Calibri"/>
              </a:rPr>
              <a:t>Cachorros também competem em provas de frisbee!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526280"/>
            <a:ext cx="10515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526280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162A3A"/>
                </a:solidFill>
                <a:latin typeface="Calibri"/>
              </a:rP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526280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62A3A"/>
                </a:solidFill>
                <a:latin typeface="Calibri"/>
              </a:rPr>
              <a:t>O esporte ajuda nos reflexos, na coordenação e no trabalho em equipe.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440680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162A3A"/>
                </a:solidFill>
                <a:latin typeface="Calibri"/>
              </a:rPr>
              <a:t>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440680"/>
            <a:ext cx="93268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62A3A"/>
                </a:solidFill>
                <a:latin typeface="Calibri"/>
              </a:rPr>
              <a:t>Há várias modalidades: freestyle, disc golf e ultimate frisbee.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37760" y="1463040"/>
            <a:ext cx="2286000" cy="2286000"/>
          </a:xfrm>
          <a:prstGeom prst="ellipse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285232" y="1810512"/>
            <a:ext cx="1591056" cy="1591056"/>
          </a:xfrm>
          <a:prstGeom prst="ellipse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2057400"/>
            <a:ext cx="2286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0">
                <a:solidFill>
                  <a:srgbClr val="162A3A"/>
                </a:solidFill>
                <a:latin typeface="Calibri"/>
              </a:rPr>
              <a:t>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Obrigado pela atenção!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C43D"/>
                </a:solidFill>
                <a:latin typeface="Calibri"/>
              </a:rPr>
              <a:t>Nicolas  •  Felipe  •  André  •  Lucas  •  Ruan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