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463040"/>
            <a:ext cx="4114800" cy="4114800"/>
          </a:xfrm>
          <a:prstGeom prst="ellipse">
            <a:avLst/>
          </a:prstGeom>
          <a:solidFill>
            <a:srgbClr val="1C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65615" y="3931920"/>
            <a:ext cx="4572000" cy="4572000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788920"/>
            <a:ext cx="12191695" cy="155448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0" y="640080"/>
            <a:ext cx="2377440" cy="237744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92870" y="1020470"/>
            <a:ext cx="1616660" cy="1616660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68358" y="1495958"/>
            <a:ext cx="665684" cy="665684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Calibri"/>
              </a:rPr>
              <a:t>FRISBEE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26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C43D"/>
                </a:solidFill>
                <a:latin typeface="Calibri"/>
              </a:rPr>
              <a:t>O esporte do disco — origem, regras e curiosidades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150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Nicolas    Felipe    André    Lucas    Ruan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19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7" dur="1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8" dur="1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9" dur="1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0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3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10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10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O que é o Frisbee?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6400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A2433"/>
                </a:solidFill>
                <a:latin typeface="Calibri"/>
              </a:rPr>
              <a:t>É um esporte coletivo jogado com um disco de plástico. O objetivo é levar o disco até a área de pontuação do adversário usando apenas passes — ninguém pode correr segurando o disco.</a:t>
            </a:r>
          </a:p>
        </p:txBody>
      </p:sp>
      <p:sp>
        <p:nvSpPr>
          <p:cNvPr id="8" name="Oval 7"/>
          <p:cNvSpPr/>
          <p:nvPr/>
        </p:nvSpPr>
        <p:spPr>
          <a:xfrm>
            <a:off x="8061350" y="2103120"/>
            <a:ext cx="702259" cy="702259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7863840" y="2849270"/>
            <a:ext cx="1097280" cy="1448409"/>
          </a:xfrm>
          <a:prstGeom prst="round2SameRect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55910" y="2103120"/>
            <a:ext cx="702259" cy="702259"/>
          </a:xfrm>
          <a:prstGeom prst="ellipse">
            <a:avLst/>
          </a:prstGeom>
          <a:solidFill>
            <a:srgbClr val="1C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10058400" y="2849270"/>
            <a:ext cx="1097280" cy="1448409"/>
          </a:xfrm>
          <a:prstGeom prst="round2SameRect">
            <a:avLst/>
          </a:prstGeom>
          <a:solidFill>
            <a:srgbClr val="1C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2148840"/>
            <a:ext cx="1097280" cy="109728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19564" y="2324404"/>
            <a:ext cx="746152" cy="746152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39020" y="2543860"/>
            <a:ext cx="307240" cy="30724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3474720" cy="201168"/>
          </a:xfrm>
          <a:prstGeom prst="round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6B2C"/>
                </a:solidFill>
                <a:latin typeface="Calibri"/>
              </a:rPr>
              <a:t>7 x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3474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jogadores em</a:t>
            </a:r>
          </a:p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cada equipe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97680" y="4160520"/>
            <a:ext cx="3474720" cy="201168"/>
          </a:xfrm>
          <a:prstGeom prst="roundRect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43484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1FB6A6"/>
                </a:solidFill>
                <a:latin typeface="Calibri"/>
              </a:rPr>
              <a:t>ZONA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257800"/>
            <a:ext cx="3474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receber o disco</a:t>
            </a:r>
          </a:p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na área de gol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4160520"/>
            <a:ext cx="34747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80" y="4160520"/>
            <a:ext cx="3474720" cy="201168"/>
          </a:xfrm>
          <a:prstGeom prst="round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443484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C43D"/>
                </a:solidFill>
                <a:latin typeface="Calibri"/>
              </a:rPr>
              <a:t>FAIR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5257800"/>
            <a:ext cx="3474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os jogadores</a:t>
            </a:r>
          </a:p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resolvem as faltas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0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10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0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40" dur="4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5" dur="12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46" dur="1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47" dur="1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15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5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15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5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15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6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Origem e história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Calibri"/>
              </a:rPr>
              <a:t>Começou como brincadeira universitária nos Estados Unidos e virou um esporte competitivo praticado em vários países.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10881360" cy="3200400"/>
          </a:xfrm>
          <a:prstGeom prst="round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926080"/>
            <a:ext cx="228600" cy="32004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C43D"/>
                </a:solidFill>
                <a:latin typeface="Calibri"/>
              </a:rPr>
              <a:t>De onde vem o nome "Frisbee"?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Calibri"/>
              </a:rPr>
              <a:t>Ele se inspirou em formas antigas de arremessar discos, mas ficou famoso nos EUA nos anos 1940. O nome veio da empresa de tortas "Frisbie Pie Company": os estudantes jogavam as formas de torta vazias gritando "Frisbie!".</a:t>
            </a:r>
          </a:p>
          <a:p>
            <a:pPr algn="l"/>
            <a:r>
              <a:rPr sz="19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900" b="0">
                <a:solidFill>
                  <a:srgbClr val="FFFFFF"/>
                </a:solidFill>
                <a:latin typeface="Calibri"/>
              </a:rPr>
              <a:t>Depois, a empresa Wham-O criou o disco de plástico moderno e mudou a escrita para "Frisbee".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0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10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5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15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3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1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35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O campo de jogo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2057400"/>
            <a:ext cx="9784080" cy="3200400"/>
          </a:xfrm>
          <a:prstGeom prst="rect">
            <a:avLst/>
          </a:prstGeom>
          <a:solidFill>
            <a:srgbClr val="35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2057400"/>
            <a:ext cx="1737360" cy="3200400"/>
          </a:xfrm>
          <a:prstGeom prst="rect">
            <a:avLst/>
          </a:prstGeom>
          <a:solidFill>
            <a:srgbClr val="27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35440" y="2057400"/>
            <a:ext cx="1737360" cy="3200400"/>
          </a:xfrm>
          <a:prstGeom prst="rect">
            <a:avLst/>
          </a:prstGeom>
          <a:solidFill>
            <a:srgbClr val="27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6080" y="2057400"/>
            <a:ext cx="381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35440" y="2057400"/>
            <a:ext cx="381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22402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26974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31546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36118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40690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5262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4983480"/>
            <a:ext cx="3810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6440" y="3383280"/>
            <a:ext cx="548640" cy="54864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94222" y="3471062"/>
            <a:ext cx="373076" cy="373076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03950" y="3580790"/>
            <a:ext cx="153620" cy="15362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2057400"/>
            <a:ext cx="17373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ÁREA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 GOL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057400"/>
            <a:ext cx="6309360" cy="3200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CAMPO CENTRAL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57400"/>
            <a:ext cx="17373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ÁREA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 GOL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77840"/>
            <a:ext cx="9784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Pode ser jogado em grama, areia ou quadras adaptadas. Pontua-se quando um jogador recebe o disco dentro da área de gol adversária.</a:t>
            </a:r>
          </a:p>
        </p:txBody>
      </p:sp>
    </p:spTree>
  </p:cSld>
  <p:clrMapOvr>
    <a:masterClrMapping/>
  </p:clrMapOvr>
  <p:transition spd="med">
    <p:cover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0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0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0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0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10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6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7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15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Regras básicas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828800"/>
            <a:ext cx="566928" cy="56692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O objetivo é chegar à área de pontuação do adversário recebendo o disco.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560320"/>
            <a:ext cx="566928" cy="566928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6032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Quem está com o disco NÃO pode correr — só pode passar.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566928" cy="56692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9184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Cada equipe joga normalmente com 7 jogadores em campo.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023360"/>
            <a:ext cx="566928" cy="566928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2336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O disco passa para o outro time se cair no chão ou for interceptado.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754880"/>
            <a:ext cx="566928" cy="56692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5488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Pontua-se quando um jogador recebe o disco na área de gol adversária.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486400"/>
            <a:ext cx="566928" cy="566928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86400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48640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Não é permitido contato físico forte entre os jogadores.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2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2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12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3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2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3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4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12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4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47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4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2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5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5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58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12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63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65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67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Como o jogo acontece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828800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1783080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O jogo começa com um lançamento chamado "pull" (como a saída do futebol).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487168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441448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Quem está com o disco tem cerca de 10 segundos para passar.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145536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099816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Se o disco sair do campo, a posse vai para o outro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803904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758184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Após cada ponto, os times trocam de lado no campo.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462272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As substituições acontecem normalmente após um ponto.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120640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074920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Se dois jogadores pegam o disco ao mesmo tempo, a posse fica com o ataque.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779008"/>
            <a:ext cx="292608" cy="292608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5733288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2433"/>
                </a:solidFill>
                <a:latin typeface="Calibri"/>
              </a:rPr>
              <a:t>Vence quem chega primeiro à pontuação combinada (geralmente 15 pontos).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1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18" dur="3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0" dur="3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11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5" dur="3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7" dur="3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11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32" dur="3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34" dur="3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11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39" dur="3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41" dur="3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11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46" dur="3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48" dur="3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11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53" dur="3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55" dur="3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1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60" dur="3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62" dur="3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99855" y="-1280160"/>
            <a:ext cx="4572000" cy="4572000"/>
          </a:xfrm>
          <a:prstGeom prst="ellipse">
            <a:avLst/>
          </a:prstGeom>
          <a:solidFill>
            <a:srgbClr val="1C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114800"/>
            <a:ext cx="4114800" cy="411480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66360" y="685800"/>
            <a:ext cx="1828800" cy="1828800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58968" y="978408"/>
            <a:ext cx="1243584" cy="1243584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24728" y="1344168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C43D"/>
                </a:solidFill>
                <a:latin typeface="Calibri"/>
              </a:rPr>
              <a:t>O Espírito do Jogo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657600"/>
            <a:ext cx="9235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Calibri"/>
              </a:rPr>
              <a:t>O Frisbee não tem árbitros na maioria das partidas: os próprios jogadores resolvem as faltas.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029200"/>
            <a:ext cx="9235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C43D"/>
                </a:solidFill>
                <a:latin typeface="Calibri"/>
              </a:rPr>
              <a:t>Por isso o esporte valoriza o respeito, a honestidade e o fair play.</a:t>
            </a:r>
          </a:p>
        </p:txBody>
      </p:sp>
    </p:spTree>
  </p:cSld>
  <p:clrMapOvr>
    <a:masterClrMapping/>
  </p:clrMapOvr>
  <p:transition spd="med">
    <p:cover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10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1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3" dur="1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4" dur="1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15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1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15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Modalidades do Frisbee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7472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640080" y="1920240"/>
            <a:ext cx="3474720" cy="1371600"/>
          </a:xfrm>
          <a:prstGeom prst="round2Same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2240280"/>
            <a:ext cx="914400" cy="914400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66544" y="2386584"/>
            <a:ext cx="621792" cy="621792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49424" y="2569464"/>
            <a:ext cx="256032" cy="256032"/>
          </a:xfrm>
          <a:prstGeom prst="ellipse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22A47"/>
                </a:solidFill>
                <a:latin typeface="Calibri"/>
              </a:rPr>
              <a:t>Ultimate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3108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Jogo coletivo de passes entre duas equipes. É o mais popular de todos.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920240"/>
            <a:ext cx="347472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297680" y="1920240"/>
            <a:ext cx="3474720" cy="1371600"/>
          </a:xfrm>
          <a:prstGeom prst="round2SameRect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71032" y="2240280"/>
            <a:ext cx="76200" cy="868680"/>
          </a:xfrm>
          <a:prstGeom prst="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rapezoid 16"/>
          <p:cNvSpPr/>
          <p:nvPr/>
        </p:nvSpPr>
        <p:spPr>
          <a:xfrm>
            <a:off x="5623560" y="2331720"/>
            <a:ext cx="777240" cy="457200"/>
          </a:xfrm>
          <a:prstGeom prst="trapezoid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38328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22A47"/>
                </a:solidFill>
                <a:latin typeface="Calibri"/>
              </a:rPr>
              <a:t>Disc Golf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023360"/>
            <a:ext cx="3108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Como o golfe, mas o disco é arremessado em direção a uma cesta.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920240"/>
            <a:ext cx="347472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7955280" y="1920240"/>
            <a:ext cx="3474720" cy="1371600"/>
          </a:xfrm>
          <a:prstGeom prst="round2Same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0" y="2240280"/>
            <a:ext cx="914400" cy="914400"/>
          </a:xfrm>
          <a:prstGeom prst="ellipse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81744" y="2386584"/>
            <a:ext cx="621792" cy="621792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64624" y="2569464"/>
            <a:ext cx="256032" cy="256032"/>
          </a:xfrm>
          <a:prstGeom prst="ellipse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338328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22A47"/>
                </a:solidFill>
                <a:latin typeface="Calibri"/>
              </a:rPr>
              <a:t>Freestyle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023360"/>
            <a:ext cx="3108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2433"/>
                </a:solidFill>
                <a:latin typeface="Calibri"/>
              </a:rPr>
              <a:t>Manobras, truques e acrobacias feitas com o disco no ar.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2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1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1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3" dur="1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4" dur="1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12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2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2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1.3 L 0 0 E" pathEditMode="relative">
                                      <p:cBhvr>
                                        <p:cTn id="4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5" dur="1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46" dur="1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47" dur="1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1F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50292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122A47"/>
                </a:solidFill>
                <a:latin typeface="Calibri"/>
              </a:rPr>
              <a:t>Curiosidades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08760"/>
            <a:ext cx="2377440" cy="6350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11679"/>
            <a:ext cx="1783080" cy="685800"/>
          </a:xfrm>
          <a:prstGeom prst="round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79"/>
            <a:ext cx="1783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C43D"/>
                </a:solidFill>
                <a:latin typeface="Calibri"/>
              </a:rPr>
              <a:t>100</a:t>
            </a:r>
          </a:p>
          <a:p>
            <a:pPr algn="ctr"/>
            <a:r>
              <a:rPr sz="2000" b="1">
                <a:solidFill>
                  <a:srgbClr val="FFC43D"/>
                </a:solidFill>
                <a:latin typeface="Calibri"/>
              </a:rPr>
              <a:t>km/h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874519"/>
            <a:ext cx="8321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Calibri"/>
              </a:rPr>
              <a:t>O disco pode ultrapassar essa velocidade num bom lançamento.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799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108959"/>
            <a:ext cx="1783080" cy="685800"/>
          </a:xfrm>
          <a:prstGeom prst="round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08959"/>
            <a:ext cx="1783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C43D"/>
                </a:solidFill>
                <a:latin typeface="Calibri"/>
              </a:rPr>
              <a:t>15</a:t>
            </a:r>
          </a:p>
          <a:p>
            <a:pPr algn="ctr"/>
            <a:r>
              <a:rPr sz="2000" b="1">
                <a:solidFill>
                  <a:srgbClr val="FFC43D"/>
                </a:solidFill>
                <a:latin typeface="Calibri"/>
              </a:rPr>
              <a:t>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971799"/>
            <a:ext cx="8321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Calibri"/>
              </a:rPr>
              <a:t>Em jogos oficiais, costuma-se jogar até 15 pontos.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79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206239"/>
            <a:ext cx="1783080" cy="685800"/>
          </a:xfrm>
          <a:prstGeom prst="round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06239"/>
            <a:ext cx="1783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C43D"/>
                </a:solidFill>
                <a:latin typeface="Calibri"/>
              </a:rPr>
              <a:t>MUNDO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069079"/>
            <a:ext cx="8321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Calibri"/>
              </a:rPr>
              <a:t>Existe campeonato mundial e o esporte é jogado em vários países.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66359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5303519"/>
            <a:ext cx="1783080" cy="685800"/>
          </a:xfrm>
          <a:prstGeom prst="round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03519"/>
            <a:ext cx="1783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C43D"/>
                </a:solidFill>
                <a:latin typeface="Calibri"/>
              </a:rPr>
              <a:t>DOGS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166359"/>
            <a:ext cx="8321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33"/>
                </a:solidFill>
                <a:latin typeface="Calibri"/>
              </a:rPr>
              <a:t>Cachorros também competem em provas com o disco!</a:t>
            </a:r>
          </a:p>
        </p:txBody>
      </p:sp>
    </p:spTree>
  </p:cSld>
  <p:clrMapOvr>
    <a:masterClrMapping/>
  </p:clrMapOvr>
  <p:transition spd="med">
    <p:cover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1.3 0 L 0 0 E" pathEditMode="relative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3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18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13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27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13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3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3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13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39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4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737360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66360" y="640080"/>
            <a:ext cx="1828800" cy="1828800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58968" y="932688"/>
            <a:ext cx="1243584" cy="1243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24728" y="1298448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C43D"/>
                </a:solidFill>
                <a:latin typeface="Calibri"/>
              </a:rPr>
              <a:t>Nicolas    Felipe    André    Lucas    Ruan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1.3 0 L 0 0 E" pathEditMode="relative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10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1.3 L 0 0 E" pathEditMode="relative">
                                      <p:cBhvr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1600000">
                                      <p:cBhvr>
                                        <p:cTn id="2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1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5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